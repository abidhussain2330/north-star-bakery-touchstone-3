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sldIdLst>
    <p:sldId id="256" r:id="rId2"/>
    <p:sldId id="257" r:id="rId3"/>
    <p:sldId id="258" r:id="rId4"/>
    <p:sldId id="259" r:id="rId5"/>
    <p:sldId id="260" r:id="rId6"/>
    <p:sldId id="261" r:id="rId7"/>
    <p:sldId id="262" r:id="rId8"/>
    <p:sldId id="263" r:id="rId9"/>
    <p:sldId id="264" r:id="rId10"/>
    <p:sldId id="265"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2" d="100"/>
          <a:sy n="62" d="100"/>
        </p:scale>
        <p:origin x="676" y="2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summarizes the completed North Star Bakery website. The live link on this slide opens the deployed site, where all navigation, responsive layout, media, product favorites, validation, and saved customer details are available for review.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North Star Bakery needs to feel warm and dependable while helping customers find products and make an inquiry quickly. Keeping the Contact and Pre-Order link in the same place on every page supports customers who may arrive through the home, product, or about page and then want to take action.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desktop homepage screenshot shows the same header and navigation used throughout the site. The logical heading order and card-style sections let customers scan for the bakery’s specialties, featured item, hours, and welcome message instead of reading one large block of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cream background and white cards create a calm reading surface, while the dark ink text has strong contrast. On mobile, the logo and navigation stack above a single-column content flow, so the same information remains readable without horizontal scrolling.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favorites feature supports customers who may be comparing breads, pastries, and cakes before starting a pre-order. A clear saved state and confirmation message make the result visible immediately, which avoids forcing the customer to remember a category manually.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localStorage was selected because the bakery benefits from remembering simple return-visit details across browser sessions. The saved values are limited to product category preferences and the customer name and email; this reduces repetitive typing while leaving the pickup date and order details for each new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inline validation feedback is useful for customers who navigate with a keyboard or assistive technology because the message is announced and located beside the field that needs correction. Meaningful image alternatives and clear headings also help people who cannot rely on visuals or who want to scan the page quickly.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major strength is that form validation is specific instead of generic: customers see messages such as the correct email format and do not lose the rest of their order information. The next improvement would be a secure backend or third-party ordering service, because the current project intentionally demonstrates client-side behavior without actually sending an order to the bakery.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original structure prioritized clear content and a usable pre-order form. Later development added favorites and localStorage because a bakery customer may browse products once, leave, and return later; preserving a small amount of useful information makes that second visit more efficient.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was showing errors clearly while keeping valid information in place. Building small validation and rendering functions made the behavior easier to test and correct; in future work, I would plan error states, return-visit data, and screen-reader feedback earlier in the wireframing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8" name="Rectangle 7"/>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8"/>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3"/>
            <a:ext cx="5917679" cy="2554983"/>
          </a:xfrm>
        </p:spPr>
        <p:txBody>
          <a:bodyPr anchor="b"/>
          <a:lstStyle>
            <a:lvl1pPr>
              <a:defRPr sz="4800"/>
            </a:lvl1pPr>
          </a:lstStyle>
          <a:p>
            <a:r>
              <a:rPr lang="en-US"/>
              <a:t>Click to edit Master title style</a:t>
            </a:r>
            <a:endParaRPr lang="en-US" dirty="0"/>
          </a:p>
        </p:txBody>
      </p:sp>
      <p:sp>
        <p:nvSpPr>
          <p:cNvPr id="3" name="Subtitle 2"/>
          <p:cNvSpPr>
            <a:spLocks noGrp="1"/>
          </p:cNvSpPr>
          <p:nvPr>
            <p:ph type="subTitle" idx="1"/>
          </p:nvPr>
        </p:nvSpPr>
        <p:spPr bwMode="gray">
          <a:xfrm>
            <a:off x="866441" y="4777380"/>
            <a:ext cx="5917679"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7476937" y="1828799"/>
            <a:ext cx="990599" cy="228659"/>
          </a:xfrm>
        </p:spPr>
        <p:txBody>
          <a:bodyPr/>
          <a:lstStyle>
            <a:lvl1pPr algn="l">
              <a:defRPr b="0" i="0">
                <a:solidFill>
                  <a:schemeClr val="bg1"/>
                </a:solidFill>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bwMode="gray">
          <a:xfrm rot="5400000">
            <a:off x="6236210" y="3264407"/>
            <a:ext cx="3859795" cy="228659"/>
          </a:xfrm>
        </p:spPr>
        <p:txBody>
          <a:bodyPr/>
          <a:lstStyle>
            <a:lvl1pPr>
              <a:defRPr b="0" i="0">
                <a:solidFill>
                  <a:schemeClr val="bg1"/>
                </a:solidFill>
              </a:defRPr>
            </a:lvl1pPr>
          </a:lstStyle>
          <a:p>
            <a:endParaRPr lang="en-US"/>
          </a:p>
        </p:txBody>
      </p:sp>
      <p:sp>
        <p:nvSpPr>
          <p:cNvPr id="11" name="Rectangle 10"/>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0"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641423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9"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125326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Rectangle 8"/>
            <p:cNvSpPr/>
            <p:nvPr/>
          </p:nvSpPr>
          <p:spPr bwMode="gray">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257588"/>
            <a:ext cx="3101765" cy="3020343"/>
          </a:xfrm>
        </p:spPr>
        <p:txBody>
          <a:bodyPr anchor="ct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5119261" y="2257587"/>
            <a:ext cx="3054653" cy="302034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5" name="Rectangle 14"/>
          <p:cNvSpPr/>
          <p:nvPr/>
        </p:nvSpPr>
        <p:spPr>
          <a:xfrm>
            <a:off x="7738039" y="7605"/>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25122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US"/>
              <a:t>Click to edit Master title style</a:t>
            </a:r>
            <a:endParaRPr lang="en-US" dirty="0"/>
          </a:p>
        </p:txBody>
      </p:sp>
      <p:sp>
        <p:nvSpPr>
          <p:cNvPr id="3" name="Content Placeholder 2"/>
          <p:cNvSpPr>
            <a:spLocks noGrp="1"/>
          </p:cNvSpPr>
          <p:nvPr>
            <p:ph sz="half" idx="1"/>
          </p:nvPr>
        </p:nvSpPr>
        <p:spPr>
          <a:xfrm>
            <a:off x="866440" y="2489199"/>
            <a:ext cx="3636980" cy="353060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489199"/>
            <a:ext cx="3636981" cy="35306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91987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66440" y="2494298"/>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66439" y="3253588"/>
            <a:ext cx="3636981" cy="276621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0581"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0581" y="3248490"/>
            <a:ext cx="3636980" cy="2771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10" name="Slide Number Placeholder 5"/>
          <p:cNvSpPr>
            <a:spLocks noGrp="1"/>
          </p:cNvSpPr>
          <p:nvPr>
            <p:ph type="sldNum" sz="quarter" idx="12"/>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879968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5"/>
          <p:cNvSpPr>
            <a:spLocks noGrp="1"/>
          </p:cNvSpPr>
          <p:nvPr>
            <p:ph type="sldNum" sz="quarter" idx="4"/>
          </p:nvPr>
        </p:nvSpPr>
        <p:spPr>
          <a:xfrm>
            <a:off x="7678616" y="295730"/>
            <a:ext cx="791308"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2295729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6" name="Rectangle 5"/>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580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89" cy="1495588"/>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568927" y="1441182"/>
            <a:ext cx="3632850"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866440" y="3086845"/>
            <a:ext cx="2712589" cy="2938036"/>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81717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51591" y="1340000"/>
            <a:ext cx="3001938" cy="161619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51591" y="3086100"/>
            <a:ext cx="3001938" cy="24511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0244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1" name="Group 10"/>
          <p:cNvGrpSpPr/>
          <p:nvPr/>
        </p:nvGrpSpPr>
        <p:grpSpPr>
          <a:xfrm>
            <a:off x="0" y="0"/>
            <a:ext cx="9144000" cy="6860799"/>
            <a:chOff x="0" y="0"/>
            <a:chExt cx="9144000" cy="6860799"/>
          </a:xfrm>
        </p:grpSpPr>
        <p:sp>
          <p:nvSpPr>
            <p:cNvPr id="12" name="Rectangle 11"/>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9"/>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5" y="4961453"/>
            <a:ext cx="6422002"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2124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8"/>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9"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nchor="ctr"/>
          <a:lstStyle>
            <a:lvl1pPr>
              <a:defRPr sz="3600"/>
            </a:lvl1pPr>
          </a:lstStyle>
          <a:p>
            <a:r>
              <a:rPr lang="en-US"/>
              <a:t>Click to edit Master title style</a:t>
            </a:r>
            <a:endParaRPr lang="en-US" dirty="0"/>
          </a:p>
        </p:txBody>
      </p:sp>
      <p:sp>
        <p:nvSpPr>
          <p:cNvPr id="13" name="Text Placeholder 3"/>
          <p:cNvSpPr>
            <a:spLocks noGrp="1"/>
          </p:cNvSpPr>
          <p:nvPr>
            <p:ph type="body" sz="half" idx="2"/>
          </p:nvPr>
        </p:nvSpPr>
        <p:spPr>
          <a:xfrm>
            <a:off x="866440" y="3488023"/>
            <a:ext cx="6422005" cy="2536858"/>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4795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9144000" cy="6860799"/>
            <a:chOff x="0" y="0"/>
            <a:chExt cx="9144000" cy="6860799"/>
          </a:xfrm>
        </p:grpSpPr>
        <p:sp>
          <p:nvSpPr>
            <p:cNvPr id="14" name="Rectangle 13"/>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2" name="TextBox 11"/>
          <p:cNvSpPr txBox="1"/>
          <p:nvPr/>
        </p:nvSpPr>
        <p:spPr bwMode="gray">
          <a:xfrm>
            <a:off x="7033422" y="2898648"/>
            <a:ext cx="660550"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11" name="TextBox 10"/>
          <p:cNvSpPr txBox="1"/>
          <p:nvPr/>
        </p:nvSpPr>
        <p:spPr bwMode="gray">
          <a:xfrm>
            <a:off x="651683" y="589767"/>
            <a:ext cx="601591" cy="1323439"/>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8000" dirty="0"/>
              <a:t>“</a:t>
            </a:r>
          </a:p>
        </p:txBody>
      </p:sp>
      <p:sp>
        <p:nvSpPr>
          <p:cNvPr id="2" name="Title 1"/>
          <p:cNvSpPr>
            <a:spLocks noGrp="1"/>
          </p:cNvSpPr>
          <p:nvPr>
            <p:ph type="title"/>
          </p:nvPr>
        </p:nvSpPr>
        <p:spPr>
          <a:xfrm>
            <a:off x="1128058" y="903421"/>
            <a:ext cx="6160385" cy="2895658"/>
          </a:xfrm>
        </p:spPr>
        <p:txBody>
          <a:bodyPr/>
          <a:lstStyle>
            <a:lvl1pPr>
              <a:defRPr sz="3600"/>
            </a:lvl1pPr>
          </a:lstStyle>
          <a:p>
            <a:r>
              <a:rPr lang="en-US"/>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accent1"/>
                </a:solidFill>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6" name="Text Placeholder 3"/>
          <p:cNvSpPr>
            <a:spLocks noGrp="1"/>
          </p:cNvSpPr>
          <p:nvPr>
            <p:ph type="body" sz="half" idx="2"/>
          </p:nvPr>
        </p:nvSpPr>
        <p:spPr>
          <a:xfrm>
            <a:off x="866440" y="5000815"/>
            <a:ext cx="6422005" cy="1024065"/>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25080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9144000" cy="6860799"/>
            <a:chOff x="0" y="0"/>
            <a:chExt cx="9144000" cy="6860799"/>
          </a:xfrm>
        </p:grpSpPr>
        <p:sp>
          <p:nvSpPr>
            <p:cNvPr id="10" name="Rectangle 9"/>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3600" b="0" cap="none"/>
            </a:lvl1pPr>
          </a:lstStyle>
          <a:p>
            <a:r>
              <a:rPr lang="en-US"/>
              <a:t>Click to edit Master title style</a:t>
            </a:r>
            <a:endParaRPr lang="en-US" dirty="0"/>
          </a:p>
        </p:txBody>
      </p:sp>
      <p:sp>
        <p:nvSpPr>
          <p:cNvPr id="3" name="Text Placeholder 2"/>
          <p:cNvSpPr>
            <a:spLocks noGrp="1"/>
          </p:cNvSpPr>
          <p:nvPr>
            <p:ph type="body" idx="1"/>
          </p:nvPr>
        </p:nvSpPr>
        <p:spPr>
          <a:xfrm>
            <a:off x="866441" y="5024908"/>
            <a:ext cx="6422004" cy="994891"/>
          </a:xfrm>
        </p:spPr>
        <p:txBody>
          <a:bodyPr anchor="t">
            <a:normAutofit/>
          </a:bodyPr>
          <a:lstStyle>
            <a:lvl1pPr marL="0" indent="0" algn="l">
              <a:buNone/>
              <a:defRPr sz="18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5036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2305"/>
            <a:ext cx="6423592" cy="714660"/>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66441" y="2489200"/>
            <a:ext cx="2313433"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2" name="Text Placeholder 3"/>
          <p:cNvSpPr>
            <a:spLocks noGrp="1"/>
          </p:cNvSpPr>
          <p:nvPr>
            <p:ph type="body" sz="half" idx="15"/>
          </p:nvPr>
        </p:nvSpPr>
        <p:spPr>
          <a:xfrm>
            <a:off x="866440" y="3147165"/>
            <a:ext cx="2313432" cy="287771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8472" y="2489200"/>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3"/>
          <p:cNvSpPr>
            <a:spLocks noGrp="1"/>
          </p:cNvSpPr>
          <p:nvPr>
            <p:ph type="body" sz="half" idx="16"/>
          </p:nvPr>
        </p:nvSpPr>
        <p:spPr>
          <a:xfrm>
            <a:off x="3408472" y="3147165"/>
            <a:ext cx="2326749" cy="2869878"/>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0" y="2489201"/>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4" name="Text Placeholder 3"/>
          <p:cNvSpPr>
            <a:spLocks noGrp="1"/>
          </p:cNvSpPr>
          <p:nvPr>
            <p:ph type="body" sz="half" idx="17"/>
          </p:nvPr>
        </p:nvSpPr>
        <p:spPr>
          <a:xfrm>
            <a:off x="5963821" y="3147164"/>
            <a:ext cx="2313740" cy="2888366"/>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294530"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4725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lstStyle>
            <a:lvl1pPr>
              <a:defRPr sz="3200"/>
            </a:lvl1pPr>
          </a:lstStyle>
          <a:p>
            <a:r>
              <a:rPr lang="en-US"/>
              <a:t>Click to edit Master title style</a:t>
            </a:r>
            <a:endParaRPr lang="en-US" dirty="0"/>
          </a:p>
        </p:txBody>
      </p:sp>
      <p:sp>
        <p:nvSpPr>
          <p:cNvPr id="3" name="Text Placeholder 2"/>
          <p:cNvSpPr>
            <a:spLocks noGrp="1"/>
          </p:cNvSpPr>
          <p:nvPr>
            <p:ph type="body" idx="1"/>
          </p:nvPr>
        </p:nvSpPr>
        <p:spPr>
          <a:xfrm>
            <a:off x="881461" y="4180095"/>
            <a:ext cx="229904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012743" y="2486221"/>
            <a:ext cx="2021456" cy="1450321"/>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0" name="Text Placeholder 3"/>
          <p:cNvSpPr>
            <a:spLocks noGrp="1"/>
          </p:cNvSpPr>
          <p:nvPr>
            <p:ph type="body" sz="half" idx="21"/>
          </p:nvPr>
        </p:nvSpPr>
        <p:spPr>
          <a:xfrm>
            <a:off x="881461" y="4837558"/>
            <a:ext cx="2298410"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404318" y="4179596"/>
            <a:ext cx="231779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16"/>
          </p:nvPr>
        </p:nvSpPr>
        <p:spPr>
          <a:xfrm>
            <a:off x="3550622" y="2509453"/>
            <a:ext cx="2025182"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404318" y="4837558"/>
            <a:ext cx="2330903"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963821" y="4179595"/>
            <a:ext cx="2299492"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17"/>
          </p:nvPr>
        </p:nvSpPr>
        <p:spPr>
          <a:xfrm>
            <a:off x="6104946" y="2509453"/>
            <a:ext cx="2018839" cy="1427089"/>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63821" y="4837558"/>
            <a:ext cx="2299492" cy="1187321"/>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1" name="Straight Connector 20"/>
          <p:cNvCxnSpPr/>
          <p:nvPr/>
        </p:nvCxnSpPr>
        <p:spPr>
          <a:xfrm>
            <a:off x="3290019"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5849521" y="2489201"/>
            <a:ext cx="0" cy="3546328"/>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5BCAD085-E8A6-8845-BD4E-CB4CCA059FC4}"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324382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1189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7" name="Group 6"/>
          <p:cNvGrpSpPr/>
          <p:nvPr/>
        </p:nvGrpSpPr>
        <p:grpSpPr>
          <a:xfrm>
            <a:off x="0" y="0"/>
            <a:ext cx="9144000" cy="6860799"/>
            <a:chOff x="0" y="0"/>
            <a:chExt cx="9144000" cy="6860799"/>
          </a:xfrm>
        </p:grpSpPr>
        <p:sp>
          <p:nvSpPr>
            <p:cNvPr id="11" name="Rectangle 10"/>
            <p:cNvSpPr/>
            <p:nvPr/>
          </p:nvSpPr>
          <p:spPr>
            <a:xfrm>
              <a:off x="0" y="0"/>
              <a:ext cx="9118832"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8" name="Rectangle 7"/>
            <p:cNvSpPr/>
            <p:nvPr/>
          </p:nvSpPr>
          <p:spPr bwMode="gray">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077347" cy="457199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66428" y="295730"/>
            <a:ext cx="628813" cy="767687"/>
          </a:xfrm>
          <a:prstGeom prst="rect">
            <a:avLst/>
          </a:prstGeo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580052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0" y="0"/>
            <a:ext cx="9144000" cy="6860799"/>
            <a:chOff x="0" y="0"/>
            <a:chExt cx="9144000" cy="6860799"/>
          </a:xfrm>
        </p:grpSpPr>
        <p:sp>
          <p:nvSpPr>
            <p:cNvPr id="25" name="Rectangle 24"/>
            <p:cNvSpPr/>
            <p:nvPr/>
          </p:nvSpPr>
          <p:spPr>
            <a:xfrm>
              <a:off x="0" y="0"/>
              <a:ext cx="9118832"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rcRect/>
              <a:stretch>
                <a:fillRect l="-16713" r="-16989"/>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0"/>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5870199"/>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18"/>
            <p:cNvSpPr/>
            <p:nvPr/>
          </p:nvSpPr>
          <p:spPr bwMode="gray">
            <a:xfrm>
              <a:off x="485023" y="1856450"/>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0"/>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0" y="927099"/>
            <a:ext cx="6343202" cy="709865"/>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866441" y="2489200"/>
            <a:ext cx="6343201" cy="3530600"/>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39638" y="6365499"/>
            <a:ext cx="990599" cy="228659"/>
          </a:xfrm>
          <a:prstGeom prst="rect">
            <a:avLst/>
          </a:prstGeom>
        </p:spPr>
        <p:txBody>
          <a:bodyPr vert="horz" lIns="91440" tIns="45720" rIns="91440" bIns="45720" rtlCol="0" anchor="b"/>
          <a:lstStyle>
            <a:lvl1pPr algn="r">
              <a:defRPr sz="900" b="1" i="0">
                <a:solidFill>
                  <a:schemeClr val="accent1"/>
                </a:solidFill>
                <a:latin typeface="+mn-lt"/>
              </a:defRPr>
            </a:lvl1pPr>
          </a:lstStyle>
          <a:p>
            <a:fld id="{5BCAD085-E8A6-8845-BD4E-CB4CCA059FC4}" type="datetimeFigureOut">
              <a:rPr lang="en-US" smtClean="0"/>
              <a:t>5/7/2026</a:t>
            </a:fld>
            <a:endParaRPr lang="en-US"/>
          </a:p>
        </p:txBody>
      </p:sp>
      <p:sp>
        <p:nvSpPr>
          <p:cNvPr id="5" name="Footer Placeholder 4"/>
          <p:cNvSpPr>
            <a:spLocks noGrp="1"/>
          </p:cNvSpPr>
          <p:nvPr>
            <p:ph type="ftr" sz="quarter" idx="3"/>
          </p:nvPr>
        </p:nvSpPr>
        <p:spPr>
          <a:xfrm>
            <a:off x="590843" y="6365498"/>
            <a:ext cx="3859795" cy="228660"/>
          </a:xfrm>
          <a:prstGeom prst="rect">
            <a:avLst/>
          </a:prstGeom>
        </p:spPr>
        <p:txBody>
          <a:bodyPr vert="horz" lIns="91440" tIns="45720" rIns="91440" bIns="45720" rtlCol="0" anchor="b"/>
          <a:lstStyle>
            <a:lvl1pPr algn="l">
              <a:defRPr sz="900" b="1" i="0">
                <a:solidFill>
                  <a:schemeClr val="accent1"/>
                </a:solidFill>
              </a:defRPr>
            </a:lvl1pPr>
          </a:lstStyle>
          <a:p>
            <a:endParaRPr lang="en-US"/>
          </a:p>
        </p:txBody>
      </p:sp>
      <p:sp>
        <p:nvSpPr>
          <p:cNvPr id="22" name="Rectangle 2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0" name="Slide Number Placeholder 5"/>
          <p:cNvSpPr>
            <a:spLocks noGrp="1"/>
          </p:cNvSpPr>
          <p:nvPr>
            <p:ph type="sldNum" sz="quarter" idx="4"/>
          </p:nvPr>
        </p:nvSpPr>
        <p:spPr bwMode="auto">
          <a:xfrm>
            <a:off x="7678616" y="295730"/>
            <a:ext cx="791308" cy="767687"/>
          </a:xfrm>
          <a:prstGeom prst="rect">
            <a:avLst/>
          </a:prstGeom>
        </p:spPr>
        <p:txBody>
          <a:bodyPr vert="horz" lIns="91440" tIns="45720" rIns="91440" bIns="45720" rtlCol="0" anchor="b"/>
          <a:lstStyle>
            <a:lvl1pPr algn="ctr">
              <a:defRPr sz="2800" b="0" i="0">
                <a:solidFill>
                  <a:schemeClr val="bg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2023620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txStyles>
    <p:titleStyle>
      <a:lvl1pPr algn="l" defTabSz="457200" rtl="0" eaLnBrk="1" latinLnBrk="0" hangingPunct="1">
        <a:spcBef>
          <a:spcPct val="0"/>
        </a:spcBef>
        <a:buNone/>
        <a:defRPr sz="32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svg"/><Relationship Id="rId3" Type="http://schemas.openxmlformats.org/officeDocument/2006/relationships/hyperlink" Target="https://abidhussain2330.github.io/north-star-bakery-touchstone-3/North_Star_Bakery_HTML_Files/"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40699" y="687480"/>
            <a:ext cx="5605629" cy="994172"/>
          </a:xfrm>
        </p:spPr>
        <p:txBody>
          <a:bodyPr>
            <a:normAutofit/>
          </a:bodyPr>
          <a:lstStyle/>
          <a:p>
            <a:pPr>
              <a:lnSpc>
                <a:spcPct val="90000"/>
              </a:lnSpc>
            </a:pPr>
            <a:r>
              <a:rPr lang="en-US" sz="3000"/>
              <a:t>Touchstone 5: Client Website Final Project</a:t>
            </a:r>
          </a:p>
        </p:txBody>
      </p:sp>
      <p:sp>
        <p:nvSpPr>
          <p:cNvPr id="3" name="Content Placeholder 2"/>
          <p:cNvSpPr>
            <a:spLocks noGrp="1"/>
          </p:cNvSpPr>
          <p:nvPr>
            <p:ph idx="1"/>
          </p:nvPr>
        </p:nvSpPr>
        <p:spPr>
          <a:xfrm>
            <a:off x="852321" y="2227943"/>
            <a:ext cx="5033221" cy="3788227"/>
          </a:xfrm>
        </p:spPr>
        <p:txBody>
          <a:bodyPr anchor="ctr">
            <a:normAutofit/>
          </a:bodyPr>
          <a:lstStyle/>
          <a:p>
            <a:pPr>
              <a:spcAft>
                <a:spcPts val="800"/>
              </a:spcAft>
              <a:defRPr sz="1900"/>
            </a:pPr>
            <a:r>
              <a:t>North Star Bakery Website</a:t>
            </a:r>
          </a:p>
          <a:p>
            <a:pPr>
              <a:spcAft>
                <a:spcPts val="800"/>
              </a:spcAft>
              <a:defRPr sz="1900"/>
            </a:pPr>
            <a:r>
              <a:t>Taufiq Uddin</a:t>
            </a:r>
          </a:p>
          <a:p>
            <a:pPr>
              <a:spcAft>
                <a:spcPts val="800"/>
              </a:spcAft>
              <a:defRPr sz="1900"/>
            </a:pPr>
            <a:r>
              <a:t>Client: North Star Bakery</a:t>
            </a:r>
          </a:p>
          <a:p>
            <a:pPr>
              <a:spcAft>
                <a:spcPts val="800"/>
              </a:spcAft>
              <a:defRPr sz="1900"/>
            </a:pPr>
            <a:r>
              <a:t>Live Website:</a:t>
            </a:r>
          </a:p>
          <a:p>
            <a:r>
              <a:rPr sz="1400" u="sng">
                <a:hlinkClick r:id="rId3"/>
              </a:rPr>
              <a:t>https://abidhussain2330.github.io/north-star-bakery-touchstone-3/North_Star_Bakery_HTML_Files/</a:t>
            </a:r>
          </a:p>
        </p:txBody>
      </p:sp>
      <p:pic>
        <p:nvPicPr>
          <p:cNvPr id="7" name="Graphic 6" descr="Link">
            <a:extLst>
              <a:ext uri="{FF2B5EF4-FFF2-40B4-BE49-F238E27FC236}">
                <a16:creationId xmlns:a16="http://schemas.microsoft.com/office/drawing/2014/main" id="{9FD19CE8-C6F2-7D5D-1D7D-B16FC075E9F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624964" y="2865141"/>
            <a:ext cx="1143455" cy="1143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Client Goals &amp; Audience</a:t>
            </a:r>
          </a:p>
        </p:txBody>
      </p:sp>
      <p:sp>
        <p:nvSpPr>
          <p:cNvPr id="3" name="Content Placeholder 2"/>
          <p:cNvSpPr>
            <a:spLocks noGrp="1"/>
          </p:cNvSpPr>
          <p:nvPr>
            <p:ph idx="1"/>
          </p:nvPr>
        </p:nvSpPr>
        <p:spPr/>
        <p:txBody>
          <a:bodyPr/>
          <a:lstStyle/>
          <a:p>
            <a:pPr>
              <a:spcAft>
                <a:spcPts val="800"/>
              </a:spcAft>
              <a:defRPr sz="1500"/>
            </a:pPr>
            <a:r>
              <a:t>Client Goal: Promote a neighborhood bakery and encourage pre-orders and inquiries.</a:t>
            </a:r>
          </a:p>
          <a:p>
            <a:pPr>
              <a:spcAft>
                <a:spcPts val="800"/>
              </a:spcAft>
              <a:defRPr sz="1500"/>
            </a:pPr>
            <a:r>
              <a:t>Target Audience: Local customers, commuters, families, and event planners.</a:t>
            </a:r>
          </a:p>
          <a:p>
            <a:pPr>
              <a:spcAft>
                <a:spcPts val="800"/>
              </a:spcAft>
              <a:defRPr sz="1500"/>
            </a:pPr>
            <a:r>
              <a:t>Design Choice: A clear Contact and Pre-Order navigation link appears on every page.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Site Structure &amp; Content</a:t>
            </a:r>
          </a:p>
        </p:txBody>
      </p:sp>
      <p:sp>
        <p:nvSpPr>
          <p:cNvPr id="3" name="Content Placeholder 2"/>
          <p:cNvSpPr>
            <a:spLocks noGrp="1"/>
          </p:cNvSpPr>
          <p:nvPr>
            <p:ph idx="1"/>
          </p:nvPr>
        </p:nvSpPr>
        <p:spPr/>
        <p:txBody>
          <a:bodyPr>
            <a:normAutofit lnSpcReduction="10000"/>
          </a:bodyPr>
          <a:lstStyle/>
          <a:p>
            <a:pPr>
              <a:spcAft>
                <a:spcPts val="800"/>
              </a:spcAft>
              <a:defRPr sz="1500"/>
            </a:pPr>
            <a:r>
              <a:t>Pages Included: Home, Products, About, and Contact and Pre-Order.</a:t>
            </a:r>
          </a:p>
          <a:p>
            <a:pPr>
              <a:spcAft>
                <a:spcPts val="800"/>
              </a:spcAft>
              <a:defRPr sz="1500"/>
            </a:pPr>
            <a:r>
              <a:t>Navigation: A shared header provides the same relative links across every page.</a:t>
            </a:r>
          </a:p>
          <a:p>
            <a:pPr>
              <a:spcAft>
                <a:spcPts val="800"/>
              </a:spcAft>
              <a:defRPr sz="1500"/>
            </a:pPr>
            <a:r>
              <a:t>Structure Decision: One H1 per page, clear section headings, and grouped content cards support quick scanning.</a:t>
            </a:r>
          </a:p>
        </p:txBody>
      </p:sp>
      <p:pic>
        <p:nvPicPr>
          <p:cNvPr id="4" name="Picture 3" descr="Touchstone_5_Screenshot_Desktop_Home.png"/>
          <p:cNvPicPr>
            <a:picLocks noChangeAspect="1"/>
          </p:cNvPicPr>
          <p:nvPr/>
        </p:nvPicPr>
        <p:blipFill>
          <a:blip r:embed="rId2"/>
          <a:stretch>
            <a:fillRect/>
          </a:stretch>
        </p:blipFill>
        <p:spPr>
          <a:xfrm>
            <a:off x="7406640" y="1828800"/>
            <a:ext cx="4114800" cy="7218045"/>
          </a:xfrm>
          <a:prstGeom prst="rect">
            <a:avLst/>
          </a:prstGeom>
        </p:spPr>
      </p:pic>
      <p:sp>
        <p:nvSpPr>
          <p:cNvPr id="5" name="TextBox 4"/>
          <p:cNvSpPr txBox="1"/>
          <p:nvPr/>
        </p:nvSpPr>
        <p:spPr>
          <a:xfrm>
            <a:off x="7406640" y="5897880"/>
            <a:ext cx="4114800" cy="347472"/>
          </a:xfrm>
          <a:prstGeom prst="rect">
            <a:avLst/>
          </a:prstGeom>
          <a:noFill/>
        </p:spPr>
        <p:txBody>
          <a:bodyPr wrap="none">
            <a:spAutoFit/>
          </a:bodyPr>
          <a:lstStyle/>
          <a:p>
            <a:pPr algn="ctr">
              <a:defRPr sz="1000"/>
            </a:pPr>
            <a:r>
              <a:t>Desktop homepage: shared navigation and section-based content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Visual Design System</a:t>
            </a:r>
          </a:p>
        </p:txBody>
      </p:sp>
      <p:sp>
        <p:nvSpPr>
          <p:cNvPr id="3" name="Content Placeholder 2"/>
          <p:cNvSpPr>
            <a:spLocks noGrp="1"/>
          </p:cNvSpPr>
          <p:nvPr>
            <p:ph idx="1"/>
          </p:nvPr>
        </p:nvSpPr>
        <p:spPr/>
        <p:txBody>
          <a:bodyPr/>
          <a:lstStyle/>
          <a:p>
            <a:pPr>
              <a:spcAft>
                <a:spcPts val="800"/>
              </a:spcAft>
              <a:defRPr sz="1500"/>
            </a:pPr>
            <a:r>
              <a:t>Color: Cream (#FFFAF1), dark ink (#2F241F), sage (#DCE8DA), and terracotta (#B65335).</a:t>
            </a:r>
          </a:p>
          <a:p>
            <a:pPr>
              <a:spcAft>
                <a:spcPts val="800"/>
              </a:spcAft>
              <a:defRPr sz="1500"/>
            </a:pPr>
            <a:r>
              <a:t>Typography: Playfair Display creates a bakery character for headings; DM Sans keeps body copy and forms easy to read.</a:t>
            </a:r>
          </a:p>
          <a:p>
            <a:pPr>
              <a:spcAft>
                <a:spcPts val="800"/>
              </a:spcAft>
              <a:defRPr sz="1500"/>
            </a:pPr>
            <a:r>
              <a:t>Layout: Mobile-first cards, generous spacing, and responsive images keep information organized at every size.</a:t>
            </a:r>
          </a:p>
        </p:txBody>
      </p:sp>
      <p:pic>
        <p:nvPicPr>
          <p:cNvPr id="4" name="Picture 3" descr="Touchstone_5_Screenshot_Desktop_Home.png"/>
          <p:cNvPicPr>
            <a:picLocks noChangeAspect="1"/>
          </p:cNvPicPr>
          <p:nvPr/>
        </p:nvPicPr>
        <p:blipFill>
          <a:blip r:embed="rId2"/>
          <a:stretch>
            <a:fillRect/>
          </a:stretch>
        </p:blipFill>
        <p:spPr>
          <a:xfrm>
            <a:off x="7315200" y="1920240"/>
            <a:ext cx="2971800" cy="5213032"/>
          </a:xfrm>
          <a:prstGeom prst="rect">
            <a:avLst/>
          </a:prstGeom>
        </p:spPr>
      </p:pic>
      <p:pic>
        <p:nvPicPr>
          <p:cNvPr id="5" name="Picture 4" descr="Touchstone_5_Screenshot_Mobile_Home.png"/>
          <p:cNvPicPr>
            <a:picLocks noChangeAspect="1"/>
          </p:cNvPicPr>
          <p:nvPr/>
        </p:nvPicPr>
        <p:blipFill>
          <a:blip r:embed="rId3"/>
          <a:stretch>
            <a:fillRect/>
          </a:stretch>
        </p:blipFill>
        <p:spPr>
          <a:xfrm>
            <a:off x="10424160" y="1920240"/>
            <a:ext cx="1234440" cy="6355783"/>
          </a:xfrm>
          <a:prstGeom prst="rect">
            <a:avLst/>
          </a:prstGeom>
        </p:spPr>
      </p:pic>
      <p:sp>
        <p:nvSpPr>
          <p:cNvPr id="6" name="TextBox 5"/>
          <p:cNvSpPr txBox="1"/>
          <p:nvPr/>
        </p:nvSpPr>
        <p:spPr>
          <a:xfrm>
            <a:off x="7315200" y="5897880"/>
            <a:ext cx="4343400" cy="347472"/>
          </a:xfrm>
          <a:prstGeom prst="rect">
            <a:avLst/>
          </a:prstGeom>
          <a:noFill/>
        </p:spPr>
        <p:txBody>
          <a:bodyPr wrap="none">
            <a:spAutoFit/>
          </a:bodyPr>
          <a:lstStyle/>
          <a:p>
            <a:pPr algn="ctr">
              <a:defRPr sz="1000"/>
            </a:pPr>
            <a:r>
              <a:t>Desktop and mobile homepage layouts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Interactive Feature</a:t>
            </a:r>
          </a:p>
        </p:txBody>
      </p:sp>
      <p:sp>
        <p:nvSpPr>
          <p:cNvPr id="3" name="Content Placeholder 2"/>
          <p:cNvSpPr>
            <a:spLocks noGrp="1"/>
          </p:cNvSpPr>
          <p:nvPr>
            <p:ph idx="1"/>
          </p:nvPr>
        </p:nvSpPr>
        <p:spPr/>
        <p:txBody>
          <a:bodyPr/>
          <a:lstStyle/>
          <a:p>
            <a:pPr>
              <a:spcAft>
                <a:spcPts val="800"/>
              </a:spcAft>
              <a:defRPr sz="1500"/>
            </a:pPr>
            <a:r>
              <a:t>Feature: “Save Your Bakery Favorites” lets customers remember product categories.</a:t>
            </a:r>
          </a:p>
          <a:p>
            <a:pPr>
              <a:spcAft>
                <a:spcPts val="800"/>
              </a:spcAft>
              <a:defRPr sz="1500"/>
            </a:pPr>
            <a:r>
              <a:t>User Action: Click a category button, such as Save Pastries.</a:t>
            </a:r>
          </a:p>
          <a:p>
            <a:pPr>
              <a:spcAft>
                <a:spcPts val="800"/>
              </a:spcAft>
              <a:defRPr sz="1500"/>
            </a:pPr>
            <a:r>
              <a:t>Result: The button changes to a saved state and a live message confirms the selection.</a:t>
            </a:r>
          </a:p>
        </p:txBody>
      </p:sp>
      <p:pic>
        <p:nvPicPr>
          <p:cNvPr id="4" name="Picture 3" descr="Touchstone_4_Screenshot_1_Favorites.png"/>
          <p:cNvPicPr>
            <a:picLocks noChangeAspect="1"/>
          </p:cNvPicPr>
          <p:nvPr/>
        </p:nvPicPr>
        <p:blipFill>
          <a:blip r:embed="rId2"/>
          <a:stretch>
            <a:fillRect/>
          </a:stretch>
        </p:blipFill>
        <p:spPr>
          <a:xfrm>
            <a:off x="7315200" y="1874519"/>
            <a:ext cx="4206240" cy="12168521"/>
          </a:xfrm>
          <a:prstGeom prst="rect">
            <a:avLst/>
          </a:prstGeom>
        </p:spPr>
      </p:pic>
      <p:sp>
        <p:nvSpPr>
          <p:cNvPr id="5" name="TextBox 4"/>
          <p:cNvSpPr txBox="1"/>
          <p:nvPr/>
        </p:nvSpPr>
        <p:spPr>
          <a:xfrm>
            <a:off x="7315200" y="5897880"/>
            <a:ext cx="4206240" cy="347472"/>
          </a:xfrm>
          <a:prstGeom prst="rect">
            <a:avLst/>
          </a:prstGeom>
          <a:noFill/>
        </p:spPr>
        <p:txBody>
          <a:bodyPr wrap="none">
            <a:spAutoFit/>
          </a:bodyPr>
          <a:lstStyle/>
          <a:p>
            <a:pPr algn="ctr">
              <a:defRPr sz="1000"/>
            </a:pPr>
            <a:r>
              <a:t>Pastries selected and confirmed without a page reload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Storage</a:t>
            </a:r>
          </a:p>
        </p:txBody>
      </p:sp>
      <p:sp>
        <p:nvSpPr>
          <p:cNvPr id="3" name="Content Placeholder 2"/>
          <p:cNvSpPr>
            <a:spLocks noGrp="1"/>
          </p:cNvSpPr>
          <p:nvPr>
            <p:ph idx="1"/>
          </p:nvPr>
        </p:nvSpPr>
        <p:spPr/>
        <p:txBody>
          <a:bodyPr/>
          <a:lstStyle/>
          <a:p>
            <a:pPr>
              <a:spcAft>
                <a:spcPts val="800"/>
              </a:spcAft>
              <a:defRPr sz="1500"/>
            </a:pPr>
            <a:r>
              <a:t>Storage Type: localStorage.</a:t>
            </a:r>
          </a:p>
          <a:p>
            <a:pPr>
              <a:spcAft>
                <a:spcPts val="800"/>
              </a:spcAft>
              <a:defRPr sz="1500"/>
            </a:pPr>
            <a:r>
              <a:t>What Is Stored: Favorite categories plus the customer’s name and email after a valid request.</a:t>
            </a:r>
          </a:p>
          <a:p>
            <a:pPr>
              <a:spcAft>
                <a:spcPts val="800"/>
              </a:spcAft>
              <a:defRPr sz="1500"/>
            </a:pPr>
            <a:r>
              <a:t>When: Favorites save on button click; contact details save after successful validation and restore on a return visit.</a:t>
            </a:r>
          </a:p>
        </p:txBody>
      </p:sp>
      <p:pic>
        <p:nvPicPr>
          <p:cNvPr id="4" name="Picture 3" descr="Touchstone_4_Screenshot_3_Storage.png"/>
          <p:cNvPicPr>
            <a:picLocks noChangeAspect="1"/>
          </p:cNvPicPr>
          <p:nvPr/>
        </p:nvPicPr>
        <p:blipFill>
          <a:blip r:embed="rId2"/>
          <a:stretch>
            <a:fillRect/>
          </a:stretch>
        </p:blipFill>
        <p:spPr>
          <a:xfrm>
            <a:off x="7635240" y="1874519"/>
            <a:ext cx="3611880" cy="6145840"/>
          </a:xfrm>
          <a:prstGeom prst="rect">
            <a:avLst/>
          </a:prstGeom>
        </p:spPr>
      </p:pic>
      <p:sp>
        <p:nvSpPr>
          <p:cNvPr id="5" name="TextBox 4"/>
          <p:cNvSpPr txBox="1"/>
          <p:nvPr/>
        </p:nvSpPr>
        <p:spPr>
          <a:xfrm>
            <a:off x="7635240" y="5897880"/>
            <a:ext cx="3611880" cy="347472"/>
          </a:xfrm>
          <a:prstGeom prst="rect">
            <a:avLst/>
          </a:prstGeom>
          <a:noFill/>
        </p:spPr>
        <p:txBody>
          <a:bodyPr wrap="none">
            <a:spAutoFit/>
          </a:bodyPr>
          <a:lstStyle/>
          <a:p>
            <a:pPr algn="ctr">
              <a:defRPr sz="1000"/>
            </a:pPr>
            <a:r>
              <a:t>Saved customer details restored after a reload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Accessibility</a:t>
            </a:r>
          </a:p>
        </p:txBody>
      </p:sp>
      <p:sp>
        <p:nvSpPr>
          <p:cNvPr id="3" name="Content Placeholder 2"/>
          <p:cNvSpPr>
            <a:spLocks noGrp="1"/>
          </p:cNvSpPr>
          <p:nvPr>
            <p:ph idx="1"/>
          </p:nvPr>
        </p:nvSpPr>
        <p:spPr/>
        <p:txBody>
          <a:bodyPr/>
          <a:lstStyle/>
          <a:p>
            <a:pPr>
              <a:spcAft>
                <a:spcPts val="800"/>
              </a:spcAft>
              <a:defRPr sz="1500"/>
            </a:pPr>
            <a:r>
              <a:t>Accessibility Features: Meaningful image alt text, semantic header/nav/main/footer landmarks, form labels, fieldsets, legends, visible keyboard focus, and live feedback.</a:t>
            </a:r>
          </a:p>
          <a:p>
            <a:pPr>
              <a:spcAft>
                <a:spcPts val="800"/>
              </a:spcAft>
              <a:defRPr sz="1500"/>
            </a:pPr>
            <a:r>
              <a:t>Focus Feature: Validation messages use aria-live and appear beside the field that needs attention.</a:t>
            </a:r>
          </a:p>
        </p:txBody>
      </p:sp>
      <p:pic>
        <p:nvPicPr>
          <p:cNvPr id="4" name="Picture 3" descr="Touchstone_4_Screenshot_2_Validation.png"/>
          <p:cNvPicPr>
            <a:picLocks noChangeAspect="1"/>
          </p:cNvPicPr>
          <p:nvPr/>
        </p:nvPicPr>
        <p:blipFill>
          <a:blip r:embed="rId2"/>
          <a:stretch>
            <a:fillRect/>
          </a:stretch>
        </p:blipFill>
        <p:spPr>
          <a:xfrm>
            <a:off x="7726679" y="1874519"/>
            <a:ext cx="3429000" cy="5888236"/>
          </a:xfrm>
          <a:prstGeom prst="rect">
            <a:avLst/>
          </a:prstGeom>
        </p:spPr>
      </p:pic>
      <p:sp>
        <p:nvSpPr>
          <p:cNvPr id="5" name="TextBox 4"/>
          <p:cNvSpPr txBox="1"/>
          <p:nvPr/>
        </p:nvSpPr>
        <p:spPr>
          <a:xfrm>
            <a:off x="7726679" y="5897880"/>
            <a:ext cx="3429000" cy="347472"/>
          </a:xfrm>
          <a:prstGeom prst="rect">
            <a:avLst/>
          </a:prstGeom>
          <a:noFill/>
        </p:spPr>
        <p:txBody>
          <a:bodyPr wrap="none">
            <a:spAutoFit/>
          </a:bodyPr>
          <a:lstStyle/>
          <a:p>
            <a:pPr algn="ctr">
              <a:defRPr sz="1000"/>
            </a:pPr>
            <a:r>
              <a:t>Field-specific feedback with visible error states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Self-Evaluation</a:t>
            </a:r>
          </a:p>
        </p:txBody>
      </p:sp>
      <p:sp>
        <p:nvSpPr>
          <p:cNvPr id="3" name="Content Placeholder 2"/>
          <p:cNvSpPr>
            <a:spLocks noGrp="1"/>
          </p:cNvSpPr>
          <p:nvPr>
            <p:ph idx="1"/>
          </p:nvPr>
        </p:nvSpPr>
        <p:spPr/>
        <p:txBody>
          <a:bodyPr/>
          <a:lstStyle/>
          <a:p>
            <a:pPr>
              <a:spcAft>
                <a:spcPts val="800"/>
              </a:spcAft>
              <a:defRPr sz="1500"/>
            </a:pPr>
            <a:r>
              <a:t>Strength: The site combines a consistent visual system with clear task-focused interactions.</a:t>
            </a:r>
          </a:p>
          <a:p>
            <a:pPr>
              <a:spcAft>
                <a:spcPts val="800"/>
              </a:spcAft>
              <a:defRPr sz="1500"/>
            </a:pPr>
            <a:r>
              <a:t>Evidence: The Contact and Pre-Order form shows specific errors while preserving entered information.</a:t>
            </a:r>
          </a:p>
          <a:p>
            <a:pPr>
              <a:spcAft>
                <a:spcPts val="800"/>
              </a:spcAft>
              <a:defRPr sz="1500"/>
            </a:pPr>
            <a:r>
              <a:t>User Impact: Customers know exactly what to fix and can return more quickly because their name and email are remembered.</a:t>
            </a:r>
          </a:p>
          <a:p>
            <a:pPr>
              <a:spcAft>
                <a:spcPts val="800"/>
              </a:spcAft>
              <a:defRPr sz="1500"/>
            </a:pPr>
            <a:r>
              <a:t>Improvement: Add a real server-side order system so valid requests can be securely delivered and confirmed.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Reflection</a:t>
            </a:r>
          </a:p>
        </p:txBody>
      </p:sp>
      <p:sp>
        <p:nvSpPr>
          <p:cNvPr id="3" name="Content Placeholder 2"/>
          <p:cNvSpPr>
            <a:spLocks noGrp="1"/>
          </p:cNvSpPr>
          <p:nvPr>
            <p:ph idx="1"/>
          </p:nvPr>
        </p:nvSpPr>
        <p:spPr/>
        <p:txBody>
          <a:bodyPr>
            <a:normAutofit/>
          </a:bodyPr>
          <a:lstStyle/>
          <a:p>
            <a:pPr>
              <a:spcAft>
                <a:spcPts val="800"/>
              </a:spcAft>
              <a:defRPr sz="1500"/>
            </a:pPr>
            <a:r>
              <a:t>Planning: I planned four audience-focused pages, shared navigation, accessible forms, and a warm bakery visual system early.</a:t>
            </a:r>
          </a:p>
          <a:p>
            <a:pPr>
              <a:spcAft>
                <a:spcPts val="800"/>
              </a:spcAft>
              <a:defRPr sz="1500"/>
            </a:pPr>
            <a:r>
              <a:t>Change: I added saved favorites and remembered contact details after identifying repeat customers as a key user need.</a:t>
            </a:r>
          </a:p>
          <a:p>
            <a:pPr>
              <a:spcAft>
                <a:spcPts val="800"/>
              </a:spcAft>
              <a:defRPr sz="1500"/>
            </a:pPr>
            <a:r>
              <a:t>Why It Changed: The interactive elements make returning to products and starting another inquiry faster.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Challenges &amp; Lessons Learned</a:t>
            </a:r>
          </a:p>
        </p:txBody>
      </p:sp>
      <p:sp>
        <p:nvSpPr>
          <p:cNvPr id="3" name="Content Placeholder 2"/>
          <p:cNvSpPr>
            <a:spLocks noGrp="1"/>
          </p:cNvSpPr>
          <p:nvPr>
            <p:ph idx="1"/>
          </p:nvPr>
        </p:nvSpPr>
        <p:spPr/>
        <p:txBody>
          <a:bodyPr/>
          <a:lstStyle/>
          <a:p>
            <a:pPr>
              <a:spcAft>
                <a:spcPts val="800"/>
              </a:spcAft>
              <a:defRPr sz="1500"/>
            </a:pPr>
            <a:r>
              <a:t>Challenge: Browser-native validation did not provide consistent, nearby feedback for every field.</a:t>
            </a:r>
          </a:p>
          <a:p>
            <a:pPr>
              <a:spcAft>
                <a:spcPts val="800"/>
              </a:spcAft>
              <a:defRPr sz="1500"/>
            </a:pPr>
            <a:r>
              <a:t>Solution: I used JavaScript validation functions, dedicated error elements, aria-live messaging, and tests for invalid and valid data.</a:t>
            </a:r>
          </a:p>
          <a:p>
            <a:pPr>
              <a:spcAft>
                <a:spcPts val="800"/>
              </a:spcAft>
              <a:defRPr sz="1500"/>
            </a:pPr>
            <a:r>
              <a:t>Lesson: Plan validation feedback as part of the interface, not as an afterthought.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tint val="100000"/>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Ion Boardroom</Template>
  <TotalTime>18</TotalTime>
  <Words>489</Words>
  <Application>Microsoft Office PowerPoint</Application>
  <PresentationFormat>On-screen Show (4:3)</PresentationFormat>
  <Paragraphs>80</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Century Gothic</vt:lpstr>
      <vt:lpstr>Wingdings 3</vt:lpstr>
      <vt:lpstr>Ion Boardroom</vt:lpstr>
      <vt:lpstr>Touchstone 5: Client Website Final Project</vt:lpstr>
      <vt:lpstr>Client Goals &amp; Audience</vt:lpstr>
      <vt:lpstr>Site Structure &amp; Content</vt:lpstr>
      <vt:lpstr>Visual Design System</vt:lpstr>
      <vt:lpstr>Interactive Feature</vt:lpstr>
      <vt:lpstr>Data Storage</vt:lpstr>
      <vt:lpstr>Accessibility</vt:lpstr>
      <vt:lpstr>Self-Evaluation</vt:lpstr>
      <vt:lpstr>Process Reflection</vt:lpstr>
      <vt:lpstr>Challenges &amp; Lessons Learned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Estremera, Melissa</cp:lastModifiedBy>
  <cp:revision>2</cp:revision>
  <dcterms:created xsi:type="dcterms:W3CDTF">2013-01-27T09:14:16Z</dcterms:created>
  <dcterms:modified xsi:type="dcterms:W3CDTF">2026-05-07T14:45:01Z</dcterms:modified>
  <cp:category/>
</cp:coreProperties>
</file>