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676" y="2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the completed North Star Bakery website. The live link on this slide opens the deployed root website, where navigation, responsive layout, media, product favorites, validation, and saved customer details are available for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Star Bakery needs to feel warm and dependable while helping customers find products and make an inquiry quickly. Keeping the Contact and Pre-Order link in the same place on every page supports customers who may arrive through the home, product, or about page and then want to take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desktop homepage screenshot shows the same header and navigation used throughout the site. The logical heading order and card-style sections let customers scan for the bakery’s specialties, featured item, hours, and welcome message instead of reading one large block of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cream background and white cards create a calm reading surface, while the dark ink text has strong contrast. On mobile, the logo and navigation stack above a single-column content flow, so the same information remains readable without horizontal scrolling.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favorites feature supports customers who may be comparing breads, pastries, and cakes before starting a pre-order. A clear saved state and confirmation message make the result visible immediately, which avoids forcing the customer to remember a category manually.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localStorage was selected because the bakery benefits from remembering simple return-visit details across browser sessions. The saved values are limited to product category preferences and the customer’s name and email; this reduces repetitive typing while leaving pickup dates and order details for each new visit. The form does not transmit an order or request, which keeps the class demonstration accurate and avoids unnecessary collection of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inline validation feedback is useful for customers who navigate with a keyboard or assistive technology because the message is announced and located beside the field that needs correction. The skip link, visible focus styles, descriptive image alternatives, and clear headings also support people who navigate without a mouse or who need to scan the page quickly.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strength is that form validation is specific instead of generic: customers see messages such as the correct email format and do not lose the rest of their order information. The next improvement would be a secure backend or third-party ordering service, because the current project intentionally demonstrates client-side behavior without actually sending an order to the bakery.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structure prioritized clear content and a usable pre-order form. Later development added favorites and localStorage because a bakery customer may browse products once, leave, and return later; preserving a small amount of useful information makes that second visit more efficient.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was showing errors clearly while keeping valid information in place. Building small validation and rendering functions made the behavior easier to test and correct; in future work, I would plan error states, return-visit data, and screen-reader feedback earlier in the wireframing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8" name="Rectangle 7"/>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3"/>
            <a:ext cx="5917679" cy="2554983"/>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76937" y="1828799"/>
            <a:ext cx="990599" cy="228659"/>
          </a:xfrm>
        </p:spPr>
        <p:txBody>
          <a:bodyPr/>
          <a:lstStyle>
            <a:lvl1pPr algn="l">
              <a:defRPr b="0" i="0">
                <a:solidFill>
                  <a:schemeClr val="bg1"/>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bwMode="gray">
          <a:xfrm rot="5400000">
            <a:off x="6236210" y="3264407"/>
            <a:ext cx="3859795" cy="228659"/>
          </a:xfrm>
        </p:spPr>
        <p:txBody>
          <a:bodyPr/>
          <a:lstStyle>
            <a:lvl1pPr>
              <a:defRPr b="0" i="0">
                <a:solidFill>
                  <a:schemeClr val="bg1"/>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41423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5326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Rectangle 8"/>
            <p:cNvSpPr/>
            <p:nvPr/>
          </p:nvSpPr>
          <p:spPr bwMode="gray">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7"/>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7738039" y="7605"/>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25122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91987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94298"/>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39" y="3253588"/>
            <a:ext cx="3636981" cy="276621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10" name="Slide Number Placeholder 5"/>
          <p:cNvSpPr>
            <a:spLocks noGrp="1"/>
          </p:cNvSpPr>
          <p:nvPr>
            <p:ph type="sldNum" sz="quarter" idx="12"/>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79968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2957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6" name="Rectangle 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580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89"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1182"/>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89" cy="2938036"/>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717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51591" y="1340000"/>
            <a:ext cx="3001938" cy="161619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1" y="3086100"/>
            <a:ext cx="3001938" cy="24511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0244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5"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212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8"/>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4795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4" name="Rectangle 13"/>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2" name="TextBox 11"/>
          <p:cNvSpPr txBox="1"/>
          <p:nvPr/>
        </p:nvSpPr>
        <p:spPr bwMode="gray">
          <a:xfrm>
            <a:off x="7033422" y="2898648"/>
            <a:ext cx="660550"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bwMode="gray">
          <a:xfrm>
            <a:off x="651683" y="589767"/>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8" y="903421"/>
            <a:ext cx="6160385" cy="289565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25080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6860799"/>
            <a:chOff x="0" y="0"/>
            <a:chExt cx="9144000" cy="6860799"/>
          </a:xfrm>
        </p:grpSpPr>
        <p:sp>
          <p:nvSpPr>
            <p:cNvPr id="10" name="Rectangle 9"/>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normAutofit/>
          </a:bodyPr>
          <a:lstStyle>
            <a:lvl1pPr marL="0" indent="0" algn="l">
              <a:buNone/>
              <a:defRPr sz="18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5036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2305"/>
            <a:ext cx="6423592" cy="714660"/>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1" y="2489200"/>
            <a:ext cx="231343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5"/>
            <a:ext cx="2313432" cy="287771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2" y="2489200"/>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2" y="3147165"/>
            <a:ext cx="2326749" cy="286987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1"/>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1" y="3147164"/>
            <a:ext cx="231374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472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1461" y="4180095"/>
            <a:ext cx="229904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12743" y="2486221"/>
            <a:ext cx="2021456" cy="14503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0" name="Text Placeholder 3"/>
          <p:cNvSpPr>
            <a:spLocks noGrp="1"/>
          </p:cNvSpPr>
          <p:nvPr>
            <p:ph type="body" sz="half" idx="21"/>
          </p:nvPr>
        </p:nvSpPr>
        <p:spPr>
          <a:xfrm>
            <a:off x="881461" y="4837558"/>
            <a:ext cx="2298410"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4318" y="4179596"/>
            <a:ext cx="231779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509453"/>
            <a:ext cx="2025182"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37558"/>
            <a:ext cx="2330903"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1" y="4179595"/>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6" y="2509453"/>
            <a:ext cx="2018839"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1" y="4837558"/>
            <a:ext cx="229949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243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189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8" name="Rectangle 7"/>
            <p:cNvSpPr/>
            <p:nvPr/>
          </p:nvSpPr>
          <p:spPr bwMode="gray">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077347"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800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25" name="Rectangle 24"/>
            <p:cNvSpPr/>
            <p:nvPr/>
          </p:nvSpPr>
          <p:spPr>
            <a:xfrm>
              <a:off x="0" y="0"/>
              <a:ext cx="9118832"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18"/>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3202"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9638" y="6365499"/>
            <a:ext cx="990599" cy="228659"/>
          </a:xfrm>
          <a:prstGeom prst="rect">
            <a:avLst/>
          </a:prstGeom>
        </p:spPr>
        <p:txBody>
          <a:bodyPr vert="horz" lIns="91440" tIns="45720" rIns="91440" bIns="45720" rtlCol="0" anchor="b"/>
          <a:lstStyle>
            <a:lvl1pPr algn="r">
              <a:defRPr sz="900" b="1" i="0">
                <a:solidFill>
                  <a:schemeClr val="accent1"/>
                </a:solidFill>
                <a:latin typeface="+mn-lt"/>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590843" y="6365498"/>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0" name="Slide Number Placeholder 5"/>
          <p:cNvSpPr>
            <a:spLocks noGrp="1"/>
          </p:cNvSpPr>
          <p:nvPr>
            <p:ph type="sldNum" sz="quarter" idx="4"/>
          </p:nvPr>
        </p:nvSpPr>
        <p:spPr bwMode="auto">
          <a:xfrm>
            <a:off x="7678616" y="295730"/>
            <a:ext cx="791308" cy="767687"/>
          </a:xfrm>
          <a:prstGeom prst="rect">
            <a:avLst/>
          </a:prstGeom>
        </p:spPr>
        <p:txBody>
          <a:bodyPr vert="horz" lIns="91440" tIns="45720" rIns="91440" bIns="45720" rtlCol="0" anchor="b"/>
          <a:lstStyle>
            <a:lvl1pPr algn="ctr">
              <a:defRPr sz="2800" b="0" i="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2023620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svg"/><Relationship Id="rId3" Type="http://schemas.openxmlformats.org/officeDocument/2006/relationships/hyperlink" Target="https://abidhussain2330.github.io/north-star-bakery-touchstone-3/North_Star_Bakery_HTML_Files/" TargetMode="External"/><Relationship Id="rId4" Type="http://schemas.openxmlformats.org/officeDocument/2006/relationships/notesSlide" Target="../notesSlides/notesSlide1.xml"/><Relationship Id="rId5" Type="http://schemas.openxmlformats.org/officeDocument/2006/relationships/hyperlink" Target="https://abidhussain2330.github.io/north-star-bakery-touchstone-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pPr>
              <a:lnSpc>
                <a:spcPct val="90000"/>
              </a:lnSpc>
            </a:pPr>
            <a:r>
              <a:rPr lang="en-US" sz="3000"/>
              <a:t>Touchstone 5: Client Website Final Project</a:t>
            </a:r>
          </a:p>
        </p:txBody>
      </p:sp>
      <p:sp>
        <p:nvSpPr>
          <p:cNvPr id="3" name="Content Placeholder 2"/>
          <p:cNvSpPr>
            <a:spLocks noGrp="1"/>
          </p:cNvSpPr>
          <p:nvPr>
            <p:ph idx="1"/>
          </p:nvPr>
        </p:nvSpPr>
        <p:spPr>
          <a:xfrm>
            <a:off x="852321" y="2227943"/>
            <a:ext cx="5033221" cy="3788227"/>
          </a:xfrm>
        </p:spPr>
        <p:txBody>
          <a:bodyPr anchor="ctr">
            <a:normAutofit/>
          </a:bodyPr>
          <a:lstStyle/>
          <a:p>
            <a:r>
              <a:t>North Star Bakery Website</a:t>
            </a:r>
          </a:p>
          <a:p>
            <a:r>
              <a:t>Taufiq Uddin</a:t>
            </a:r>
          </a:p>
          <a:p>
            <a:r>
              <a:t>Client: North Star Bakery</a:t>
            </a:r>
          </a:p>
          <a:p>
            <a:r>
              <a:t>Live Website:</a:t>
            </a:r>
          </a:p>
          <a:p>
            <a:r>
              <a:rPr>
                <a:hlinkClick r:id="rId5"/>
              </a:rPr>
              <a:t>https://abidhussain2330.github.io/north-star-bakery-touchstone-3/</a:t>
            </a:r>
          </a:p>
        </p:txBody>
      </p:sp>
      <p:pic>
        <p:nvPicPr>
          <p:cNvPr id="7" name="Graphic 6" descr="Link">
            <a:extLst>
              <a:ext uri="{FF2B5EF4-FFF2-40B4-BE49-F238E27FC236}">
                <a16:creationId xmlns:a16="http://schemas.microsoft.com/office/drawing/2014/main" id="{9FD19CE8-C6F2-7D5D-1D7D-B16FC075E9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4964" y="2865141"/>
            <a:ext cx="1143455" cy="1143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 Goals &amp; Audience</a:t>
            </a:r>
          </a:p>
        </p:txBody>
      </p:sp>
      <p:sp>
        <p:nvSpPr>
          <p:cNvPr id="3" name="Content Placeholder 2"/>
          <p:cNvSpPr>
            <a:spLocks noGrp="1"/>
          </p:cNvSpPr>
          <p:nvPr>
            <p:ph idx="1"/>
          </p:nvPr>
        </p:nvSpPr>
        <p:spPr/>
        <p:txBody>
          <a:bodyPr/>
          <a:lstStyle/>
          <a:p>
            <a:pPr>
              <a:spcAft>
                <a:spcPts val="800"/>
              </a:spcAft>
              <a:defRPr sz="1500"/>
            </a:pPr>
            <a:r>
              <a:t>Client Goal: Promote a neighborhood bakery and encourage pre-orders and inquiries.</a:t>
            </a:r>
          </a:p>
          <a:p>
            <a:pPr>
              <a:spcAft>
                <a:spcPts val="800"/>
              </a:spcAft>
              <a:defRPr sz="1500"/>
            </a:pPr>
            <a:r>
              <a:t>Target Audience: Local customers, commuters, families, and event planners.</a:t>
            </a:r>
          </a:p>
          <a:p>
            <a:pPr>
              <a:spcAft>
                <a:spcPts val="800"/>
              </a:spcAft>
              <a:defRPr sz="1500"/>
            </a:pPr>
            <a:r>
              <a:t>Design Choice: A clear Contact and Pre-Order navigation link appears on every page.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Site Structure &amp; Content</a:t>
            </a:r>
          </a:p>
        </p:txBody>
      </p:sp>
      <p:sp>
        <p:nvSpPr>
          <p:cNvPr id="3" name="Content Placeholder 2"/>
          <p:cNvSpPr>
            <a:spLocks noGrp="1"/>
          </p:cNvSpPr>
          <p:nvPr>
            <p:ph idx="1"/>
          </p:nvPr>
        </p:nvSpPr>
        <p:spPr>
          <a:xfrm>
            <a:off x="868680" y="1965960"/>
            <a:ext cx="4800600" cy="4069080"/>
          </a:xfrm>
        </p:spPr>
        <p:txBody>
          <a:bodyPr wrap="square">
            <a:normAutofit lnSpcReduction="10000"/>
          </a:bodyPr>
          <a:lstStyle/>
          <a:p>
            <a:r>
              <a:t>Pages Included: Home, Products, About, and Contact and Pre-Order.</a:t>
            </a:r>
          </a:p>
          <a:p>
            <a:r>
              <a:t>Navigation: A shared header provides the same relative links across every page.</a:t>
            </a:r>
          </a:p>
          <a:p>
            <a:r>
              <a:t>Structure Decision: One H1 per page, clear section headings, and grouped content cards support quick scanning.</a:t>
            </a:r>
          </a:p>
        </p:txBody>
      </p:sp>
      <p:sp>
        <p:nvSpPr>
          <p:cNvPr id="5" name="TextBox 4"/>
          <p:cNvSpPr txBox="1"/>
          <p:nvPr/>
        </p:nvSpPr>
        <p:spPr>
          <a:xfrm>
            <a:off x="5897880" y="3794760"/>
            <a:ext cx="2743200" cy="347472"/>
          </a:xfrm>
          <a:prstGeom prst="rect">
            <a:avLst/>
          </a:prstGeom>
          <a:noFill/>
        </p:spPr>
        <p:txBody>
          <a:bodyPr wrap="square">
            <a:spAutoFit/>
          </a:bodyPr>
          <a:lstStyle/>
          <a:p>
            <a:r>
              <a:t>Desktop homepage: shared navigation and section-based content</a:t>
            </a:r>
          </a:p>
        </p:txBody>
      </p:sp>
      <p:pic>
        <p:nvPicPr>
          <p:cNvPr id="6" name="Picture 5" descr="Touchstone_5_Screenshot_Desktop_Home.png"/>
          <p:cNvPicPr>
            <a:picLocks noChangeAspect="1"/>
          </p:cNvPicPr>
          <p:nvPr/>
        </p:nvPicPr>
        <p:blipFill>
          <a:blip r:embed="rId4"/>
          <a:stretch>
            <a:fillRect/>
          </a:stretch>
        </p:blipFill>
        <p:spPr>
          <a:xfrm>
            <a:off x="5897880" y="1965960"/>
            <a:ext cx="2743200" cy="1714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 Design System</a:t>
            </a:r>
          </a:p>
        </p:txBody>
      </p:sp>
      <p:sp>
        <p:nvSpPr>
          <p:cNvPr id="3" name="Content Placeholder 2"/>
          <p:cNvSpPr>
            <a:spLocks noGrp="1"/>
          </p:cNvSpPr>
          <p:nvPr>
            <p:ph idx="1"/>
          </p:nvPr>
        </p:nvSpPr>
        <p:spPr>
          <a:xfrm>
            <a:off x="868680" y="1965960"/>
            <a:ext cx="4800600" cy="4069080"/>
          </a:xfrm>
        </p:spPr>
        <p:txBody>
          <a:bodyPr wrap="square"/>
          <a:lstStyle/>
          <a:p>
            <a:r>
              <a:t>Color: Cream (#FFFAF1), dark ink (#2F241F), sage (#DCE8DA), and terracotta (#B65335).</a:t>
            </a:r>
          </a:p>
          <a:p>
            <a:r>
              <a:t>Typography: Playfair Display gives headings bakery character; DM Sans keeps body copy and forms easy to read.</a:t>
            </a:r>
          </a:p>
          <a:p>
            <a:r>
              <a:t>Layout: Mobile-first cards, generous spacing, and responsive images keep information organized at every size.</a:t>
            </a:r>
          </a:p>
        </p:txBody>
      </p:sp>
      <p:sp>
        <p:nvSpPr>
          <p:cNvPr id="6" name="TextBox 5"/>
          <p:cNvSpPr txBox="1"/>
          <p:nvPr/>
        </p:nvSpPr>
        <p:spPr>
          <a:xfrm>
            <a:off x="5806440" y="3703320"/>
            <a:ext cx="2834640" cy="347472"/>
          </a:xfrm>
          <a:prstGeom prst="rect">
            <a:avLst/>
          </a:prstGeom>
          <a:noFill/>
        </p:spPr>
        <p:txBody>
          <a:bodyPr wrap="square">
            <a:spAutoFit/>
          </a:bodyPr>
          <a:lstStyle/>
          <a:p>
            <a:r>
              <a:t>Desktop and mobile homepage layouts</a:t>
            </a:r>
          </a:p>
        </p:txBody>
      </p:sp>
      <p:pic>
        <p:nvPicPr>
          <p:cNvPr id="7" name="Picture 6" descr="Touchstone_5_Screenshot_Desktop_Home.png"/>
          <p:cNvPicPr>
            <a:picLocks noChangeAspect="1"/>
          </p:cNvPicPr>
          <p:nvPr/>
        </p:nvPicPr>
        <p:blipFill>
          <a:blip r:embed="rId5"/>
          <a:stretch>
            <a:fillRect/>
          </a:stretch>
        </p:blipFill>
        <p:spPr>
          <a:xfrm>
            <a:off x="5806440" y="1965960"/>
            <a:ext cx="1737360" cy="1085850"/>
          </a:xfrm>
          <a:prstGeom prst="rect">
            <a:avLst/>
          </a:prstGeom>
        </p:spPr>
      </p:pic>
      <p:pic>
        <p:nvPicPr>
          <p:cNvPr id="8" name="Picture 7" descr="Touchstone_5_Screenshot_Mobile_Home.png"/>
          <p:cNvPicPr>
            <a:picLocks noChangeAspect="1"/>
          </p:cNvPicPr>
          <p:nvPr/>
        </p:nvPicPr>
        <p:blipFill>
          <a:blip r:embed="rId6"/>
          <a:stretch>
            <a:fillRect/>
          </a:stretch>
        </p:blipFill>
        <p:spPr>
          <a:xfrm>
            <a:off x="7818120" y="1965960"/>
            <a:ext cx="685800" cy="14849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Feature</a:t>
            </a:r>
          </a:p>
        </p:txBody>
      </p:sp>
      <p:sp>
        <p:nvSpPr>
          <p:cNvPr id="3" name="Content Placeholder 2"/>
          <p:cNvSpPr>
            <a:spLocks noGrp="1"/>
          </p:cNvSpPr>
          <p:nvPr>
            <p:ph idx="1"/>
          </p:nvPr>
        </p:nvSpPr>
        <p:spPr>
          <a:xfrm>
            <a:off x="868680" y="1965960"/>
            <a:ext cx="4800600" cy="4069080"/>
          </a:xfrm>
        </p:spPr>
        <p:txBody>
          <a:bodyPr wrap="square"/>
          <a:lstStyle/>
          <a:p>
            <a:r>
              <a:t>Feature: "Save Your Bakery Favorites" lets customers remember product categories.</a:t>
            </a:r>
          </a:p>
          <a:p>
            <a:r>
              <a:t>User Action: Click a category button, such as Save Pastries.</a:t>
            </a:r>
          </a:p>
          <a:p>
            <a:r>
              <a:t>Result: The button changes to a saved state and a live message confirms the selection.</a:t>
            </a:r>
          </a:p>
        </p:txBody>
      </p:sp>
      <p:sp>
        <p:nvSpPr>
          <p:cNvPr id="5" name="TextBox 4"/>
          <p:cNvSpPr txBox="1"/>
          <p:nvPr/>
        </p:nvSpPr>
        <p:spPr>
          <a:xfrm>
            <a:off x="5897880" y="4709160"/>
            <a:ext cx="2880360" cy="347472"/>
          </a:xfrm>
          <a:prstGeom prst="rect">
            <a:avLst/>
          </a:prstGeom>
          <a:noFill/>
        </p:spPr>
        <p:txBody>
          <a:bodyPr wrap="square">
            <a:spAutoFit/>
          </a:bodyPr>
          <a:lstStyle/>
          <a:p>
            <a:r>
              <a:t>Pastries and Cakes selected with an immediate status update</a:t>
            </a:r>
          </a:p>
        </p:txBody>
      </p:sp>
      <p:pic>
        <p:nvPicPr>
          <p:cNvPr id="6" name="Picture 5" descr="Touchstone_5_Screenshot_Interactive_Favorites.png"/>
          <p:cNvPicPr>
            <a:picLocks noChangeAspect="1"/>
          </p:cNvPicPr>
          <p:nvPr/>
        </p:nvPicPr>
        <p:blipFill>
          <a:blip r:embed="rId4"/>
          <a:stretch>
            <a:fillRect/>
          </a:stretch>
        </p:blipFill>
        <p:spPr>
          <a:xfrm>
            <a:off x="6172200" y="1874519"/>
            <a:ext cx="2148840" cy="27377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Storage</a:t>
            </a:r>
          </a:p>
        </p:txBody>
      </p:sp>
      <p:sp>
        <p:nvSpPr>
          <p:cNvPr id="3" name="Content Placeholder 2"/>
          <p:cNvSpPr>
            <a:spLocks noGrp="1"/>
          </p:cNvSpPr>
          <p:nvPr>
            <p:ph idx="1"/>
          </p:nvPr>
        </p:nvSpPr>
        <p:spPr>
          <a:xfrm>
            <a:off x="868680" y="1965960"/>
            <a:ext cx="4800600" cy="4069080"/>
          </a:xfrm>
        </p:spPr>
        <p:txBody>
          <a:bodyPr wrap="square"/>
          <a:lstStyle/>
          <a:p>
            <a:r>
              <a:t>Storage Type: localStorage.</a:t>
            </a:r>
          </a:p>
          <a:p>
            <a:r>
              <a:t>What Is Stored: Favorite categories plus the customer’s name and email after a valid local demonstration submission.</a:t>
            </a:r>
          </a:p>
          <a:p>
            <a:r>
              <a:t>When: Favorites save on button click; contact details save after validation and restore on a return visit.</a:t>
            </a:r>
          </a:p>
        </p:txBody>
      </p:sp>
      <p:sp>
        <p:nvSpPr>
          <p:cNvPr id="5" name="TextBox 4"/>
          <p:cNvSpPr txBox="1"/>
          <p:nvPr/>
        </p:nvSpPr>
        <p:spPr>
          <a:xfrm>
            <a:off x="5989320" y="5074920"/>
            <a:ext cx="2743200" cy="347472"/>
          </a:xfrm>
          <a:prstGeom prst="rect">
            <a:avLst/>
          </a:prstGeom>
          <a:noFill/>
        </p:spPr>
        <p:txBody>
          <a:bodyPr wrap="square">
            <a:spAutoFit/>
          </a:bodyPr>
          <a:lstStyle/>
          <a:p>
            <a:r>
              <a:t>Saved customer details restored after a reload</a:t>
            </a:r>
          </a:p>
        </p:txBody>
      </p:sp>
      <p:pic>
        <p:nvPicPr>
          <p:cNvPr id="6" name="Picture 5" descr="Touchstone_5_Screenshot_Storage.png"/>
          <p:cNvPicPr>
            <a:picLocks noChangeAspect="1"/>
          </p:cNvPicPr>
          <p:nvPr/>
        </p:nvPicPr>
        <p:blipFill>
          <a:blip r:embed="rId4"/>
          <a:stretch>
            <a:fillRect/>
          </a:stretch>
        </p:blipFill>
        <p:spPr>
          <a:xfrm>
            <a:off x="6446520" y="1828800"/>
            <a:ext cx="1828800" cy="29997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Accessibility</a:t>
            </a:r>
          </a:p>
        </p:txBody>
      </p:sp>
      <p:sp>
        <p:nvSpPr>
          <p:cNvPr id="3" name="Content Placeholder 2"/>
          <p:cNvSpPr>
            <a:spLocks noGrp="1"/>
          </p:cNvSpPr>
          <p:nvPr>
            <p:ph idx="1"/>
          </p:nvPr>
        </p:nvSpPr>
        <p:spPr>
          <a:xfrm>
            <a:off x="868680" y="1965960"/>
            <a:ext cx="4800600" cy="4069080"/>
          </a:xfrm>
        </p:spPr>
        <p:txBody>
          <a:bodyPr wrap="square"/>
          <a:lstStyle/>
          <a:p>
            <a:r>
              <a:t>Accessibility Features: Skip-to-content link, semantic landmarks, descriptive image alt text, visible keyboard focus, form labels and fieldsets, caption track, and live feedback.</a:t>
            </a:r>
          </a:p>
          <a:p>
            <a:r>
              <a:t>Focus Feature: Validation messages use aria-live and appear beside the field that needs attention.</a:t>
            </a:r>
          </a:p>
        </p:txBody>
      </p:sp>
      <p:sp>
        <p:nvSpPr>
          <p:cNvPr id="5" name="TextBox 4"/>
          <p:cNvSpPr txBox="1"/>
          <p:nvPr/>
        </p:nvSpPr>
        <p:spPr>
          <a:xfrm>
            <a:off x="5897880" y="3840480"/>
            <a:ext cx="2743200" cy="347472"/>
          </a:xfrm>
          <a:prstGeom prst="rect">
            <a:avLst/>
          </a:prstGeom>
          <a:noFill/>
        </p:spPr>
        <p:txBody>
          <a:bodyPr wrap="square">
            <a:spAutoFit/>
          </a:bodyPr>
          <a:lstStyle/>
          <a:p>
            <a:r>
              <a:t>Field-specific feedback with visible error states</a:t>
            </a:r>
          </a:p>
        </p:txBody>
      </p:sp>
      <p:pic>
        <p:nvPicPr>
          <p:cNvPr id="6" name="Picture 5" descr="Touchstone_5_Screenshot_Validation.png"/>
          <p:cNvPicPr>
            <a:picLocks noChangeAspect="1"/>
          </p:cNvPicPr>
          <p:nvPr/>
        </p:nvPicPr>
        <p:blipFill>
          <a:blip r:embed="rId4"/>
          <a:stretch>
            <a:fillRect/>
          </a:stretch>
        </p:blipFill>
        <p:spPr>
          <a:xfrm>
            <a:off x="5897880" y="1965960"/>
            <a:ext cx="2651760" cy="17015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Self-Evaluation</a:t>
            </a:r>
          </a:p>
        </p:txBody>
      </p:sp>
      <p:sp>
        <p:nvSpPr>
          <p:cNvPr id="3" name="Content Placeholder 2"/>
          <p:cNvSpPr>
            <a:spLocks noGrp="1"/>
          </p:cNvSpPr>
          <p:nvPr>
            <p:ph idx="1"/>
          </p:nvPr>
        </p:nvSpPr>
        <p:spPr/>
        <p:txBody>
          <a:bodyPr/>
          <a:lstStyle/>
          <a:p>
            <a:pPr>
              <a:spcAft>
                <a:spcPts val="800"/>
              </a:spcAft>
              <a:defRPr sz="1500"/>
            </a:pPr>
            <a:r>
              <a:t>Strength: The site combines a consistent visual system with clear task-focused interactions.</a:t>
            </a:r>
          </a:p>
          <a:p>
            <a:pPr>
              <a:spcAft>
                <a:spcPts val="800"/>
              </a:spcAft>
              <a:defRPr sz="1500"/>
            </a:pPr>
            <a:r>
              <a:t>Evidence: The Contact and Pre-Order form shows specific errors while preserving entered information.</a:t>
            </a:r>
          </a:p>
          <a:p>
            <a:pPr>
              <a:spcAft>
                <a:spcPts val="800"/>
              </a:spcAft>
              <a:defRPr sz="1500"/>
            </a:pPr>
            <a:r>
              <a:t>User Impact: Customers know exactly what to fix and can return more quickly because their name and email are remembered.</a:t>
            </a:r>
          </a:p>
          <a:p>
            <a:pPr>
              <a:spcAft>
                <a:spcPts val="800"/>
              </a:spcAft>
              <a:defRPr sz="1500"/>
            </a:pPr>
            <a:r>
              <a:t>Improvement: Add a real server-side order system so valid requests can be securely delivered and confirmed.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 Reflection</a:t>
            </a:r>
          </a:p>
        </p:txBody>
      </p:sp>
      <p:sp>
        <p:nvSpPr>
          <p:cNvPr id="3" name="Content Placeholder 2"/>
          <p:cNvSpPr>
            <a:spLocks noGrp="1"/>
          </p:cNvSpPr>
          <p:nvPr>
            <p:ph idx="1"/>
          </p:nvPr>
        </p:nvSpPr>
        <p:spPr/>
        <p:txBody>
          <a:bodyPr>
            <a:normAutofit/>
          </a:bodyPr>
          <a:lstStyle/>
          <a:p>
            <a:pPr>
              <a:spcAft>
                <a:spcPts val="800"/>
              </a:spcAft>
              <a:defRPr sz="1500"/>
            </a:pPr>
            <a:r>
              <a:t>Planning: I planned four audience-focused pages, shared navigation, accessible forms, and a warm bakery visual system early.</a:t>
            </a:r>
          </a:p>
          <a:p>
            <a:pPr>
              <a:spcAft>
                <a:spcPts val="800"/>
              </a:spcAft>
              <a:defRPr sz="1500"/>
            </a:pPr>
            <a:r>
              <a:t>Change: I added saved favorites and remembered contact details after identifying repeat customers as a key user need.</a:t>
            </a:r>
          </a:p>
          <a:p>
            <a:pPr>
              <a:spcAft>
                <a:spcPts val="800"/>
              </a:spcAft>
              <a:defRPr sz="1500"/>
            </a:pPr>
            <a:r>
              <a:t>Why It Changed: The interactive elements make returning to products and starting another inquiry faster.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&amp; Lessons Learned</a:t>
            </a:r>
          </a:p>
        </p:txBody>
      </p:sp>
      <p:sp>
        <p:nvSpPr>
          <p:cNvPr id="3" name="Content Placeholder 2"/>
          <p:cNvSpPr>
            <a:spLocks noGrp="1"/>
          </p:cNvSpPr>
          <p:nvPr>
            <p:ph idx="1"/>
          </p:nvPr>
        </p:nvSpPr>
        <p:spPr/>
        <p:txBody>
          <a:bodyPr/>
          <a:lstStyle/>
          <a:p>
            <a:pPr>
              <a:spcAft>
                <a:spcPts val="800"/>
              </a:spcAft>
              <a:defRPr sz="1500"/>
            </a:pPr>
            <a:r>
              <a:t>Challenge: Browser-native validation did not provide consistent, nearby feedback for every field.</a:t>
            </a:r>
          </a:p>
          <a:p>
            <a:pPr>
              <a:spcAft>
                <a:spcPts val="800"/>
              </a:spcAft>
              <a:defRPr sz="1500"/>
            </a:pPr>
            <a:r>
              <a:t>Solution: I used JavaScript validation functions, dedicated error elements, aria-live messaging, and tests for invalid and valid data.</a:t>
            </a:r>
          </a:p>
          <a:p>
            <a:pPr>
              <a:spcAft>
                <a:spcPts val="800"/>
              </a:spcAft>
              <a:defRPr sz="1500"/>
            </a:pPr>
            <a:r>
              <a:t>Lesson: Plan validation feedback as part of the interface, not as an afterthought.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18</TotalTime>
  <Words>489</Words>
  <Application>Microsoft Office PowerPoint</Application>
  <PresentationFormat>On-screen Show (4:3)</PresentationFormat>
  <Paragraphs>80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Century Gothic</vt:lpstr>
      <vt:lpstr>Wingdings 3</vt:lpstr>
      <vt:lpstr>Ion Boardroom</vt:lpstr>
      <vt:lpstr>Touchstone 5: Client Website Final Project</vt:lpstr>
      <vt:lpstr>Client Goals &amp; Audience</vt:lpstr>
      <vt:lpstr>Site Structure &amp; Content</vt:lpstr>
      <vt:lpstr>Visual Design System</vt:lpstr>
      <vt:lpstr>Interactive Feature</vt:lpstr>
      <vt:lpstr>Data Storage</vt:lpstr>
      <vt:lpstr>Accessibility</vt:lpstr>
      <vt:lpstr>Self-Evaluation</vt:lpstr>
      <vt:lpstr>Process Reflection</vt:lpstr>
      <vt:lpstr>Challenges &amp; Lessons Learned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Estremera, Melissa</cp:lastModifiedBy>
  <cp:revision>2</cp:revision>
  <dcterms:created xsi:type="dcterms:W3CDTF">2013-01-27T09:14:16Z</dcterms:created>
  <dcterms:modified xsi:type="dcterms:W3CDTF">2026-05-07T14:45:01Z</dcterms:modified>
  <cp:category/>
</cp:coreProperties>
</file>